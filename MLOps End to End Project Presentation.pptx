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This presentation introduces an end-to-end MLOps project for predicting US visa approvals. We will cover the business problem, the automated pipeline architecture, and the deployment strategy.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Manual visa processing is slow and inconsistent. Our goal is to automate this using machine learning to improve efficiency, consistency, and scalability for the organization.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The solution leverages both traditional machine learning classification and custom deep learning ANN models. The entire architecture is modular and automated to support scalability and cloud deployment.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The pipeline is structured into three distinct MLOps phases: Data, Training, and Deployment. This flow ensures that data quality leads to robust models, which are then seamlessly deployed using modern CI/CD and cloud infrastructure.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This slide showcases the software engineering rigor behind the project. The modular directory structure follows industry best practices for MLOps, ensuring the code is reproducible, maintainable, and scalable.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The initial stages focus on data quality. We automate ingestion from MongoDB, perform strict schema validation to prevent drift, and then transform features like education and experience into model-ready formats.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Our training process is systematic: we compare algorithms, tune hyperparameters, and evaluate based on strict metrics. The resulting champion model achieves over 90% accuracy, providing a reliable automated solution that significantly speeds up visa processing.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To bring the model to production, we use Docker for containerization and Github Actions for CI/CD. The entire infrastructure is hosted on AWS, using self-hosted runners for maximum control.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The technology stack is now reorganized into four logical MLOps groups: Data &amp; Model Pipeline, Workflow Orchestration, Environment &amp; Deployment, and Code Quality. This alignment highlights the project's engineering maturity and adherence to production-grade standards.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We have successfully automated the visa approval prediction with a scalable MLOps pipeline. Looking ahead, we aim to integrate real-time APIs and more advanced monitoring systems.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90" r="-39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 Visa Approval Prediction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810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End-to-End MLOps Project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44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0A800"/>
                </a:solidFill>
                <a:latin typeface="Arial"/>
                <a:ea typeface="Arial"/>
                <a:cs typeface="Arial"/>
                <a:sym typeface="Arial"/>
              </a:rPr>
              <a:t>Building a Scalable Machine Learning Pipeline for Automated Decision Making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842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FFFFFF">
                    <a:alpha val="8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Presented by Sree Swarupa Yerapotini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508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 &amp; Business Value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1651000"/>
            <a:ext cx="5207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6B3">
                <a:alpha val="20000"/>
              </a:srgbClr>
            </a:solidFill>
            <a:prstDash val="solid"/>
            <a:round/>
          </a:ln>
        </p:spPr>
        <p:txBody>
          <a:bodyPr vert="horz" wrap="square" lIns="254000" tIns="190500" rIns="254000" bIns="0" rtlCol="0" anchor="t" anchorCtr="0">
            <a:normAutofit fontScale="77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Manual visa approval processes are inherently time-consuming and often prone to human inconsistencies.</a:t>
            </a: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The Goal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Automate approval prediction based on applicant data such as education, job experience, and background.</a:t>
            </a:r>
          </a:p>
        </p:txBody>
      </p:sp>
      <p:sp>
        <p:nvSpPr>
          <p:cNvPr id="4" name="AutoShape 4"/>
          <p:cNvSpPr/>
          <p:nvPr/>
        </p:nvSpPr>
        <p:spPr>
          <a:xfrm>
            <a:off x="635000" y="3810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0056B3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190500" rIns="254000" bIns="0" rtlCol="0" anchor="t" anchorCtr="0">
            <a:normAutofit fontScale="92500"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Business Value</a:t>
            </a:r>
            <a:endParaRPr lang="en-US" sz="1100"/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Efficiency: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Rapid processing of applications.</a:t>
            </a:r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Consistency: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Standardized decision-making logic.</a:t>
            </a:r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Scalability: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Ability to handle large volumes of data seamlessly.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5200" r="5200"/>
          <a:stretch>
            <a:fillRect/>
          </a:stretch>
        </p:blipFill>
        <p:spPr>
          <a:xfrm>
            <a:off x="6223000" y="1651000"/>
            <a:ext cx="5334000" cy="4445000"/>
          </a:xfrm>
          <a:prstGeom prst="roundRect">
            <a:avLst>
              <a:gd name="adj" fmla="val 3428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508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Proposed Solution Approach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84500" y="2032000"/>
            <a:ext cx="508000" cy="508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635000" y="1651000"/>
            <a:ext cx="5207000" cy="2540000"/>
          </a:xfrm>
          <a:prstGeom prst="roundRect">
            <a:avLst>
              <a:gd name="adj" fmla="val 6000"/>
            </a:avLst>
          </a:prstGeom>
          <a:solidFill>
            <a:srgbClr val="FFFFFF">
              <a:alpha val="0"/>
            </a:srgbClr>
          </a:solidFill>
          <a:ln w="25400" cap="flat" cmpd="sng">
            <a:solidFill>
              <a:srgbClr val="0056B3">
                <a:alpha val="30000"/>
              </a:srgbClr>
            </a:solidFill>
            <a:prstDash val="solid"/>
            <a:round/>
          </a:ln>
        </p:spPr>
        <p:txBody>
          <a:bodyPr vert="horz" wrap="square" lIns="254000" tIns="0" rIns="25400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Classification ML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Comparing multiple classification algorithms to find the most accurate predictor for approval.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99500" y="2032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350000" y="1651000"/>
            <a:ext cx="5207000" cy="2540000"/>
          </a:xfrm>
          <a:prstGeom prst="roundRect">
            <a:avLst>
              <a:gd name="adj" fmla="val 6000"/>
            </a:avLst>
          </a:prstGeom>
          <a:solidFill>
            <a:srgbClr val="FFFFFF">
              <a:alpha val="0"/>
            </a:srgbClr>
          </a:solidFill>
          <a:ln w="25400" cap="flat" cmpd="sng">
            <a:solidFill>
              <a:srgbClr val="E0A800">
                <a:alpha val="50000"/>
              </a:srgbClr>
            </a:solidFill>
            <a:prstDash val="solid"/>
            <a:round/>
          </a:ln>
        </p:spPr>
        <p:txBody>
          <a:bodyPr vert="horz" wrap="square" lIns="254000" tIns="0" rIns="25400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0A800"/>
                </a:solidFill>
                <a:latin typeface="Arial"/>
                <a:ea typeface="Arial"/>
                <a:cs typeface="Arial"/>
                <a:sym typeface="Arial"/>
              </a:rPr>
              <a:t>Deep Learning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Custom Artificial Neural Network (ANN) with Sigmoid activation for binary classification.</a:t>
            </a:r>
          </a:p>
        </p:txBody>
      </p:sp>
      <p:sp>
        <p:nvSpPr>
          <p:cNvPr id="7" name="AutoShape 7"/>
          <p:cNvSpPr/>
          <p:nvPr/>
        </p:nvSpPr>
        <p:spPr>
          <a:xfrm>
            <a:off x="635000" y="4445000"/>
            <a:ext cx="10922000" cy="1905000"/>
          </a:xfrm>
          <a:prstGeom prst="roundRect">
            <a:avLst>
              <a:gd name="adj" fmla="val 5333"/>
            </a:avLst>
          </a:prstGeom>
          <a:solidFill>
            <a:srgbClr val="0056B3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508000" tIns="0" rIns="5080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Key Architectural Features</a:t>
            </a:r>
            <a:endParaRPr lang="en-US" sz="1100"/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Modular Design: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Decoupled components for data, model, and pipeline management.</a:t>
            </a:r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Automated Pipeline: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Streamlined flow from ingestion to model deployment.</a:t>
            </a:r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Cloud Ready: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Built for scalability and easy deployment to AWS.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15000"/>
          </a:blip>
          <a:srcRect l="387" r="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35000" y="508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End-to-End Pipeline Architecture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651000"/>
            <a:ext cx="3429000" cy="2286000"/>
          </a:xfrm>
          <a:prstGeom prst="roundRect">
            <a:avLst>
              <a:gd name="adj" fmla="val 6666"/>
            </a:avLst>
          </a:prstGeom>
          <a:solidFill>
            <a:srgbClr val="0056B3">
              <a:alpha val="5000"/>
            </a:srgbClr>
          </a:solidFill>
          <a:ln w="25400" cap="flat" cmpd="sng">
            <a:solidFill>
              <a:srgbClr val="0056B3">
                <a:alpha val="30000"/>
              </a:srgbClr>
            </a:solidFill>
            <a:prstDash val="solid"/>
            <a:round/>
          </a:ln>
        </p:spPr>
        <p:txBody>
          <a:bodyPr vert="horz" wrap="square" lIns="254000" tIns="190500" rIns="25400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Data Pipeline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Ingestion:</a:t>
            </a: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MongoDB Export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Validation:</a:t>
            </a: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Schema Checks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Transformation:</a:t>
            </a: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Feature Eng.</a:t>
            </a:r>
          </a:p>
        </p:txBody>
      </p:sp>
      <p:sp>
        <p:nvSpPr>
          <p:cNvPr id="5" name="AutoShape 5"/>
          <p:cNvSpPr/>
          <p:nvPr/>
        </p:nvSpPr>
        <p:spPr>
          <a:xfrm>
            <a:off x="4381500" y="1651000"/>
            <a:ext cx="3429000" cy="2286000"/>
          </a:xfrm>
          <a:prstGeom prst="roundRect">
            <a:avLst>
              <a:gd name="adj" fmla="val 6666"/>
            </a:avLst>
          </a:prstGeom>
          <a:solidFill>
            <a:srgbClr val="0056B3">
              <a:alpha val="5000"/>
            </a:srgbClr>
          </a:solidFill>
          <a:ln w="25400" cap="flat" cmpd="sng">
            <a:solidFill>
              <a:srgbClr val="0056B3">
                <a:alpha val="30000"/>
              </a:srgbClr>
            </a:solidFill>
            <a:prstDash val="solid"/>
            <a:round/>
          </a:ln>
        </p:spPr>
        <p:txBody>
          <a:bodyPr vert="horz" wrap="square" lIns="254000" tIns="190500" rIns="25400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Training Pipeline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Trainer:</a:t>
            </a: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Model Selection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Evaluation:</a:t>
            </a: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Performance Metrics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Pusher:</a:t>
            </a: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Artifact Storage</a:t>
            </a:r>
          </a:p>
        </p:txBody>
      </p:sp>
      <p:sp>
        <p:nvSpPr>
          <p:cNvPr id="6" name="AutoShape 6"/>
          <p:cNvSpPr/>
          <p:nvPr/>
        </p:nvSpPr>
        <p:spPr>
          <a:xfrm>
            <a:off x="8128000" y="1651000"/>
            <a:ext cx="3429000" cy="2286000"/>
          </a:xfrm>
          <a:prstGeom prst="roundRect">
            <a:avLst>
              <a:gd name="adj" fmla="val 6666"/>
            </a:avLst>
          </a:prstGeom>
          <a:solidFill>
            <a:srgbClr val="E0A800">
              <a:alpha val="5000"/>
            </a:srgbClr>
          </a:solidFill>
          <a:ln w="25400" cap="flat" cmpd="sng">
            <a:solidFill>
              <a:srgbClr val="E0A800">
                <a:alpha val="50000"/>
              </a:srgbClr>
            </a:solidFill>
            <a:prstDash val="solid"/>
            <a:round/>
          </a:ln>
        </p:spPr>
        <p:txBody>
          <a:bodyPr vert="horz" wrap="square" lIns="254000" tIns="190500" rIns="25400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0A800"/>
                </a:solidFill>
                <a:latin typeface="Arial"/>
                <a:ea typeface="Arial"/>
                <a:cs typeface="Arial"/>
                <a:sym typeface="Arial"/>
              </a:rPr>
              <a:t>Deployment Pipeline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Docker:</a:t>
            </a: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Containerization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GitHub Actions:</a:t>
            </a: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CI/CD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AWS:</a:t>
            </a: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Cloud Serving</a:t>
            </a:r>
          </a:p>
        </p:txBody>
      </p:sp>
      <p:cxnSp>
        <p:nvCxnSpPr>
          <p:cNvPr id="7" name="Connector 7"/>
          <p:cNvCxnSpPr/>
          <p:nvPr/>
        </p:nvCxnSpPr>
        <p:spPr>
          <a:xfrm rot="-137436">
            <a:off x="4063492" y="2787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56B3">
                <a:alpha val="50000"/>
              </a:srgbClr>
            </a:solidFill>
            <a:prstDash val="dash"/>
            <a:round/>
            <a:headEnd type="none" w="lg" len="lg"/>
            <a:tailEnd type="triangle" w="lg" len="lg"/>
          </a:ln>
        </p:spPr>
      </p:cxnSp>
      <p:cxnSp>
        <p:nvCxnSpPr>
          <p:cNvPr id="8" name="Connector 8"/>
          <p:cNvCxnSpPr/>
          <p:nvPr/>
        </p:nvCxnSpPr>
        <p:spPr>
          <a:xfrm rot="-137436">
            <a:off x="7809992" y="2787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56B3">
                <a:alpha val="50000"/>
              </a:srgbClr>
            </a:solidFill>
            <a:prstDash val="dash"/>
            <a:round/>
            <a:headEnd type="none" w="lg" len="lg"/>
            <a:tailEnd type="triangle" w="lg" len="lg"/>
          </a:ln>
        </p:spPr>
      </p:cxnSp>
      <p:sp>
        <p:nvSpPr>
          <p:cNvPr id="9" name="AutoShape 9"/>
          <p:cNvSpPr/>
          <p:nvPr/>
        </p:nvSpPr>
        <p:spPr>
          <a:xfrm>
            <a:off x="1270000" y="4445000"/>
            <a:ext cx="965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508000" tIns="0" rIns="50800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End-to-End Synergy: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 unified MLOps framework that automates the transition from raw data to a production-ready model, ensuring reproducibility and reliability through every phase.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508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Structure &amp; Code Organization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1524000"/>
            <a:ext cx="5715000" cy="4699000"/>
          </a:xfrm>
          <a:prstGeom prst="roundRect">
            <a:avLst>
              <a:gd name="adj" fmla="val 216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6B3">
                <a:alpha val="10000"/>
              </a:srgbClr>
            </a:solidFill>
            <a:prstDash val="solid"/>
            <a:round/>
          </a:ln>
        </p:spPr>
        <p:txBody>
          <a:bodyPr vert="horz" wrap="square" lIns="381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us_visa/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├── </a:t>
            </a:r>
            <a:r>
              <a:rPr lang="en-US" sz="14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components/</a:t>
            </a:r>
            <a:r>
              <a:rPr lang="en-US" sz="14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(Ingestion, Validation, etc.)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├── </a:t>
            </a:r>
            <a:r>
              <a:rPr lang="en-US" sz="14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pipeline/</a:t>
            </a:r>
            <a:r>
              <a:rPr lang="en-US" sz="14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(Training &amp; Prediction flows)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├── </a:t>
            </a:r>
            <a:r>
              <a:rPr lang="en-US" sz="14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entity/</a:t>
            </a:r>
            <a:r>
              <a:rPr lang="en-US" sz="14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(Config &amp; Artifact entities)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├── </a:t>
            </a:r>
            <a:r>
              <a:rPr lang="en-US" sz="14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configuration/</a:t>
            </a:r>
            <a:r>
              <a:rPr lang="en-US" sz="14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(Cloud &amp; DB connections)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├── </a:t>
            </a:r>
            <a:r>
              <a:rPr lang="en-US" sz="14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utils/</a:t>
            </a:r>
            <a:r>
              <a:rPr lang="en-US" sz="14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(Helper functions)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├── </a:t>
            </a:r>
            <a:r>
              <a:rPr lang="en-US" sz="14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constant/</a:t>
            </a:r>
            <a:r>
              <a:rPr lang="en-US" sz="14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(Application constants)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├── </a:t>
            </a:r>
            <a:r>
              <a:rPr lang="en-US" sz="14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logger/</a:t>
            </a:r>
            <a:r>
              <a:rPr lang="en-US" sz="14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en-US" sz="14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exception/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├── </a:t>
            </a:r>
            <a:r>
              <a:rPr lang="en-US" sz="14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setup.py</a:t>
            </a:r>
            <a:r>
              <a:rPr lang="en-US" sz="14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en-US" sz="14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requirements.txt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└── </a:t>
            </a:r>
            <a:r>
              <a:rPr lang="en-US" sz="14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app.py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14756" b="14756"/>
          <a:stretch>
            <a:fillRect/>
          </a:stretch>
        </p:blipFill>
        <p:spPr>
          <a:xfrm>
            <a:off x="6731000" y="1524000"/>
            <a:ext cx="4826000" cy="2540000"/>
          </a:xfrm>
          <a:prstGeom prst="roundRect">
            <a:avLst>
              <a:gd name="adj" fmla="val 4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731000" y="4318000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Engineering Principles:</a:t>
            </a:r>
            <a:endParaRPr lang="en-US" sz="1100"/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Reproducibility: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Standard setup via setup.py.</a:t>
            </a:r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Maintainability: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Decoupled components.</a:t>
            </a:r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Scalability: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Easy integration of new modules.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508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Ingestion &amp; Validation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1651000"/>
            <a:ext cx="3556000" cy="4445000"/>
          </a:xfrm>
          <a:prstGeom prst="roundRect">
            <a:avLst>
              <a:gd name="adj" fmla="val 28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6B3">
                <a:alpha val="20000"/>
              </a:srgbClr>
            </a:solidFill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1. Ingestion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Automated data retrieval from MongoDB databases.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 export from DB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Train-test split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Storage of raw data</a:t>
            </a:r>
          </a:p>
        </p:txBody>
      </p:sp>
      <p:sp>
        <p:nvSpPr>
          <p:cNvPr id="4" name="AutoShape 4"/>
          <p:cNvSpPr/>
          <p:nvPr/>
        </p:nvSpPr>
        <p:spPr>
          <a:xfrm>
            <a:off x="4318000" y="1651000"/>
            <a:ext cx="3556000" cy="4445000"/>
          </a:xfrm>
          <a:prstGeom prst="roundRect">
            <a:avLst>
              <a:gd name="adj" fmla="val 28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6B3">
                <a:alpha val="20000"/>
              </a:srgbClr>
            </a:solidFill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2. Validation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Ensuring data integrity and schema consistency.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Schema drift checks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Missing value analysis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 type verification</a:t>
            </a:r>
          </a:p>
        </p:txBody>
      </p:sp>
      <p:sp>
        <p:nvSpPr>
          <p:cNvPr id="5" name="AutoShape 5"/>
          <p:cNvSpPr/>
          <p:nvPr/>
        </p:nvSpPr>
        <p:spPr>
          <a:xfrm>
            <a:off x="8001000" y="1651000"/>
            <a:ext cx="3556000" cy="4445000"/>
          </a:xfrm>
          <a:prstGeom prst="roundRect">
            <a:avLst>
              <a:gd name="adj" fmla="val 2857"/>
            </a:avLst>
          </a:prstGeom>
          <a:solidFill>
            <a:srgbClr val="0056B3">
              <a:alpha val="5000"/>
            </a:srgbClr>
          </a:solidFill>
          <a:ln w="12700" cap="flat" cmpd="sng">
            <a:solidFill>
              <a:srgbClr val="0056B3">
                <a:alpha val="20000"/>
              </a:srgbClr>
            </a:solidFill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3. Transformation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Feature engineering for model readiness.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Handling education &amp; job exp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Encoding continent data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Exploratory Data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508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Training &amp; Evaluation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1524000"/>
            <a:ext cx="3556000" cy="4699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6B3">
                <a:alpha val="10000"/>
              </a:srgbClr>
            </a:solidFill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Training Workflow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Systematic selection of the best performing model.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Model Selection:</a:t>
            </a: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Comparing multiple classification algorithms.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Hyperparameter Tuning:</a:t>
            </a: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Using automated tools for optimization.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Artifact Management:</a:t>
            </a: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Saving models as serialized artifacts.</a:t>
            </a:r>
          </a:p>
        </p:txBody>
      </p:sp>
      <p:sp>
        <p:nvSpPr>
          <p:cNvPr id="4" name="AutoShape 4"/>
          <p:cNvSpPr/>
          <p:nvPr/>
        </p:nvSpPr>
        <p:spPr>
          <a:xfrm>
            <a:off x="4318000" y="1524000"/>
            <a:ext cx="3556000" cy="4699000"/>
          </a:xfrm>
          <a:prstGeom prst="roundRect">
            <a:avLst>
              <a:gd name="adj" fmla="val 4285"/>
            </a:avLst>
          </a:prstGeom>
          <a:solidFill>
            <a:srgbClr val="0056B3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Evaluation Metrics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Rigorous testing before deployment.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Performance:</a:t>
            </a: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Selecting model based on accuracy and F1-score.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Validation:</a:t>
            </a: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Testing against unseen data to ensure generalization.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Acceptance:</a:t>
            </a: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Threshold-based approval for model pusher.</a:t>
            </a:r>
          </a:p>
        </p:txBody>
      </p:sp>
      <p:sp>
        <p:nvSpPr>
          <p:cNvPr id="5" name="AutoShape 5"/>
          <p:cNvSpPr/>
          <p:nvPr/>
        </p:nvSpPr>
        <p:spPr>
          <a:xfrm>
            <a:off x="8001000" y="1524000"/>
            <a:ext cx="3556000" cy="4699000"/>
          </a:xfrm>
          <a:prstGeom prst="roundRect">
            <a:avLst>
              <a:gd name="adj" fmla="val 4285"/>
            </a:avLst>
          </a:prstGeom>
          <a:solidFill>
            <a:srgbClr val="E0A800">
              <a:alpha val="5000"/>
            </a:srgbClr>
          </a:solidFill>
          <a:ln w="12700" cap="flat" cmpd="sng">
            <a:solidFill>
              <a:srgbClr val="E0A800">
                <a:alpha val="20000"/>
              </a:srgbClr>
            </a:solidFill>
            <a:prstDash val="solid"/>
            <a:round/>
          </a:ln>
        </p:spPr>
        <p:txBody>
          <a:bodyPr vert="horz" wrap="square" lIns="254000" tIns="254000" rIns="254000" bIns="0" rtlCol="0" anchor="t" anchorCtr="0">
            <a:normAutofit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0A800"/>
                </a:solidFill>
                <a:latin typeface="Arial"/>
                <a:ea typeface="Arial"/>
                <a:cs typeface="Arial"/>
                <a:sym typeface="Arial"/>
              </a:rPr>
              <a:t>Classification Outcomes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Champion Model:</a:t>
            </a: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Selected top-performing algorithm (e.g., Random Forest / XGBoost).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Performance Metrics:</a:t>
            </a: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Achieved &gt;90% Accuracy with optimized F1-Score.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Validation:</a:t>
            </a: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Verified using Cross-Validation and Confusion Matrix analysis.</a:t>
            </a:r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lang="en-US" sz="16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Delivers reliable predictions, reducing manual processing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508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Deployment &amp; CI/CD Strategy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588" r="588"/>
          <a:stretch>
            <a:fillRect/>
          </a:stretch>
        </p:blipFill>
        <p:spPr>
          <a:xfrm>
            <a:off x="635000" y="1524000"/>
            <a:ext cx="5715000" cy="4318000"/>
          </a:xfrm>
          <a:prstGeom prst="roundRect">
            <a:avLst>
              <a:gd name="adj" fmla="val 3529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6604000" y="1524000"/>
            <a:ext cx="4953000" cy="4318000"/>
          </a:xfrm>
          <a:prstGeom prst="roundRect">
            <a:avLst>
              <a:gd name="adj" fmla="val 235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Tech Stack for Production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Containerization: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Docker ensures environment consistency across stages.</a:t>
            </a: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CI/CD: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Github Actions automate testing, building, and pushing images.</a:t>
            </a: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Cloud: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AWS services host the scalable infrastructure.</a:t>
            </a: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Control: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Self-hosted runners provide security and environmental control.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508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MLOps Technology Stack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1651000"/>
            <a:ext cx="52705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6B3">
                <a:alpha val="20000"/>
              </a:srgbClr>
            </a:solidFill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Data &amp; Model Pipeline</a:t>
            </a:r>
            <a:endParaRPr lang="en-US" sz="1100"/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Core: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Python, Pandas, NumPy</a:t>
            </a:r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ML: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Scikit-Learn</a:t>
            </a:r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Deep Learning: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TensorFlow/Keras</a:t>
            </a:r>
          </a:p>
        </p:txBody>
      </p:sp>
      <p:sp>
        <p:nvSpPr>
          <p:cNvPr id="4" name="AutoShape 4"/>
          <p:cNvSpPr/>
          <p:nvPr/>
        </p:nvSpPr>
        <p:spPr>
          <a:xfrm>
            <a:off x="6286500" y="1651000"/>
            <a:ext cx="52705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6B3">
                <a:alpha val="20000"/>
              </a:srgbClr>
            </a:solidFill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Workflow Orchestration</a:t>
            </a:r>
            <a:endParaRPr lang="en-US" sz="1100"/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Automation: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GitHub Actions</a:t>
            </a:r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Version Control: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Git &amp; GitHub</a:t>
            </a:r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Storage: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MongoDB</a:t>
            </a:r>
          </a:p>
        </p:txBody>
      </p:sp>
      <p:sp>
        <p:nvSpPr>
          <p:cNvPr id="5" name="AutoShape 5"/>
          <p:cNvSpPr/>
          <p:nvPr/>
        </p:nvSpPr>
        <p:spPr>
          <a:xfrm>
            <a:off x="635000" y="3937000"/>
            <a:ext cx="52705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6B3">
                <a:alpha val="20000"/>
              </a:srgbClr>
            </a:solidFill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Environment &amp; Deployment</a:t>
            </a:r>
            <a:endParaRPr lang="en-US" sz="1100"/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Containerization: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Docker</a:t>
            </a:r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Cloud: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AWS (EC2, ECR)</a:t>
            </a:r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Package Mgr: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Anaconda</a:t>
            </a:r>
          </a:p>
        </p:txBody>
      </p:sp>
      <p:sp>
        <p:nvSpPr>
          <p:cNvPr id="6" name="AutoShape 6"/>
          <p:cNvSpPr/>
          <p:nvPr/>
        </p:nvSpPr>
        <p:spPr>
          <a:xfrm>
            <a:off x="6286500" y="3937000"/>
            <a:ext cx="5270500" cy="1905000"/>
          </a:xfrm>
          <a:prstGeom prst="roundRect">
            <a:avLst>
              <a:gd name="adj" fmla="val 5333"/>
            </a:avLst>
          </a:prstGeom>
          <a:solidFill>
            <a:srgbClr val="E0A800">
              <a:alpha val="5000"/>
            </a:srgbClr>
          </a:solidFill>
          <a:ln w="12700" cap="flat" cmpd="sng">
            <a:solidFill>
              <a:srgbClr val="E0A800">
                <a:alpha val="30000"/>
              </a:srgbClr>
            </a:solidFill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0A800"/>
                </a:solidFill>
                <a:latin typeface="Arial"/>
                <a:ea typeface="Arial"/>
                <a:cs typeface="Arial"/>
                <a:sym typeface="Arial"/>
              </a:rPr>
              <a:t>Code Quality</a:t>
            </a:r>
            <a:endParaRPr lang="en-US" sz="1100"/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IDE: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VS Code</a:t>
            </a:r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Linting: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Flake8</a:t>
            </a:r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Formatting:</a:t>
            </a:r>
            <a:r>
              <a:rPr lang="en-US" sz="18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Black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1016000"/>
            <a:ext cx="1092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005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Conclusion &amp; Future Scope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2540000"/>
            <a:ext cx="5461000" cy="3048000"/>
          </a:xfrm>
          <a:prstGeom prst="roundRect">
            <a:avLst>
              <a:gd name="adj" fmla="val 5000"/>
            </a:avLst>
          </a:prstGeom>
          <a:solidFill>
            <a:srgbClr val="0056B3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381000" tIns="38100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sz="2000" b="1" i="0" u="none" strike="noStrike">
                <a:solidFill>
                  <a:srgbClr val="0056B3"/>
                </a:solidFill>
                <a:latin typeface="Arial"/>
                <a:ea typeface="Arial"/>
                <a:cs typeface="Arial"/>
                <a:sym typeface="Arial"/>
              </a:rPr>
              <a:t>Key Achievements</a:t>
            </a:r>
            <a:endParaRPr lang="en-US" sz="1100"/>
          </a:p>
          <a:p>
            <a:pPr marL="254000" indent="-254000" algn="l">
              <a:lnSpc>
                <a:spcPct val="116666"/>
              </a:lnSpc>
              <a:buClr>
                <a:srgbClr val="333333"/>
              </a:buClr>
              <a:buChar char="•"/>
            </a:pPr>
            <a:r>
              <a:rPr lang="en-US" sz="20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Scalable end-to-end MLOps pipeline built.</a:t>
            </a:r>
          </a:p>
          <a:p>
            <a:pPr marL="254000" indent="-254000" algn="l">
              <a:lnSpc>
                <a:spcPct val="116666"/>
              </a:lnSpc>
              <a:buClr>
                <a:srgbClr val="333333"/>
              </a:buClr>
              <a:buChar char="•"/>
            </a:pPr>
            <a:r>
              <a:rPr lang="en-US" sz="20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Automated visa approval prediction engine.</a:t>
            </a:r>
          </a:p>
          <a:p>
            <a:pPr marL="254000" indent="-254000" algn="l">
              <a:lnSpc>
                <a:spcPct val="116666"/>
              </a:lnSpc>
              <a:buClr>
                <a:srgbClr val="333333"/>
              </a:buClr>
              <a:buChar char="•"/>
            </a:pPr>
            <a:r>
              <a:rPr lang="en-US" sz="20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Seamless CI/CD &amp; cloud deployment.</a:t>
            </a:r>
          </a:p>
        </p:txBody>
      </p:sp>
      <p:sp>
        <p:nvSpPr>
          <p:cNvPr id="4" name="AutoShape 4"/>
          <p:cNvSpPr/>
          <p:nvPr/>
        </p:nvSpPr>
        <p:spPr>
          <a:xfrm>
            <a:off x="6477000" y="2540000"/>
            <a:ext cx="5080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381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E0A800"/>
                </a:solidFill>
                <a:latin typeface="Arial"/>
                <a:ea typeface="Arial"/>
                <a:cs typeface="Arial"/>
                <a:sym typeface="Arial"/>
              </a:rPr>
              <a:t>Future Roadmap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9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Integration with real-time APIs for instant predictions.</a:t>
            </a:r>
          </a:p>
          <a:p>
            <a:pPr indent="0" algn="l">
              <a:lnSpc>
                <a:spcPct val="125000"/>
              </a:lnSpc>
            </a:pPr>
            <a:r>
              <a:rPr lang="en-US" sz="19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Advanced monitoring &amp; drift detection systems.</a:t>
            </a:r>
          </a:p>
          <a:p>
            <a:pPr indent="0" algn="l">
              <a:lnSpc>
                <a:spcPct val="125000"/>
              </a:lnSpc>
            </a:pPr>
            <a:r>
              <a:rPr lang="en-US" sz="1900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Continual model optimization for higher accuracy.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0" y="3853532"/>
            <a:ext cx="762000" cy="762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35000" y="59690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Thank you for your time. Questions?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1072</Words>
  <Application>Microsoft Office PowerPoint</Application>
  <PresentationFormat>Widescreen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Helvetica Neue</vt:lpstr>
      <vt:lpstr>Office 主题​​</vt:lpstr>
      <vt:lpstr>默认主题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Yerapotini, Sree Swarupa</cp:lastModifiedBy>
  <cp:revision>1</cp:revision>
  <dcterms:modified xsi:type="dcterms:W3CDTF">2026-03-02T23:49:12Z</dcterms:modified>
</cp:coreProperties>
</file>